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98" r:id="rId5"/>
    <p:sldId id="323" r:id="rId6"/>
    <p:sldId id="324" r:id="rId7"/>
    <p:sldId id="325" r:id="rId8"/>
    <p:sldId id="326" r:id="rId9"/>
    <p:sldId id="327" r:id="rId1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CE1"/>
    <a:srgbClr val="F9FFE0"/>
    <a:srgbClr val="4A6852"/>
    <a:srgbClr val="E5FF8F"/>
    <a:srgbClr val="CCECFF"/>
    <a:srgbClr val="CFB6B8"/>
    <a:srgbClr val="FFA687"/>
    <a:srgbClr val="669900"/>
    <a:srgbClr val="339933"/>
    <a:srgbClr val="F6A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19" autoAdjust="0"/>
  </p:normalViewPr>
  <p:slideViewPr>
    <p:cSldViewPr snapToGrid="0">
      <p:cViewPr varScale="1">
        <p:scale>
          <a:sx n="101" d="100"/>
          <a:sy n="101" d="100"/>
        </p:scale>
        <p:origin x="1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75B1A-6DB7-4CED-A54B-377FE5577673}" type="datetime1">
              <a:rPr lang="en-GB" smtClean="0"/>
              <a:t>19/08/2025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EA438-8B65-4D13-AA42-BA57E155A6C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7088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58DBC-65F2-4BD2-9AD8-2B73EA439260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F151F-66B2-4EE0-8956-9F20DBE8F1A8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015483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DF151F-66B2-4EE0-8956-9F20DBE8F1A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7628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BD24F6-6EDE-48F7-8C25-391505298D4B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E455D0-6F0E-4D08-8021-563B7E85F801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2EE385-30B8-480B-A94B-33FF34961050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24D7213-6875-4A32-9233-2F6922924890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7D8CA3-F6CE-4329-BBB7-6F092B062175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33C48F-1C27-4C20-8EE7-84A277578AFC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87437D-BD41-40EB-A006-071CB75D7E1E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2005FC2-9D83-48CF-9743-C3DE64EBCFE9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BB6258B3-5EE2-4449-A20B-15A5628DEF7A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Quarter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1E6C149-8BA6-440C-91C1-6B4267352CC6}" type="datetime1">
              <a:rPr lang="en-GB" noProof="0" smtClean="0"/>
              <a:t>19/08/2025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population.un.org/wpp/downloads?folder=Standard%20Projections&amp;group=CSV%20forma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arbonSnitch/RGN_UN_COVID_19_2025?tab=readme-ov-fil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ryan.nattrass/viz/Before_AfterCOVID_2015/COVID-19STORY?publish=ye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lic.tableau.com/app/profile/ryan.nattrass/viz/Before_AfterCOVID_2015/COVID-19STORY?publish=yes" TargetMode="Externa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rtlCol="0" anchor="b">
            <a:normAutofit/>
          </a:bodyPr>
          <a:lstStyle/>
          <a:p>
            <a:pPr rtl="0"/>
            <a:r>
              <a:rPr lang="en-GB" sz="4400" b="1" dirty="0">
                <a:solidFill>
                  <a:schemeClr val="tx1"/>
                </a:solidFill>
              </a:rPr>
              <a:t>Ryan G Nattrass </a:t>
            </a:r>
            <a:r>
              <a:rPr lang="en-GB" sz="4400" dirty="0">
                <a:solidFill>
                  <a:schemeClr val="tx1"/>
                </a:solidFill>
              </a:rPr>
              <a:t>PhD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en-GB" sz="1600" b="1" dirty="0"/>
              <a:t>Data Analyst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6A0BC-A99A-9804-4EA4-575A891B5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1C02-F73B-33B6-BEAC-1D0901B48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15AF-7918-3CA0-697F-6485D9758C3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ADCE1"/>
          </a:solidFill>
        </p:spPr>
        <p:txBody>
          <a:bodyPr/>
          <a:lstStyle/>
          <a:p>
            <a:r>
              <a:rPr lang="en-GB" dirty="0"/>
              <a:t>Has the world recovered from COVID-19 in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B61CC-B400-D0D4-8F87-09E907CB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693127-75C2-B68E-E065-9A1F3615CB43}"/>
              </a:ext>
            </a:extLst>
          </p:cNvPr>
          <p:cNvSpPr txBox="1">
            <a:spLocks/>
          </p:cNvSpPr>
          <p:nvPr/>
        </p:nvSpPr>
        <p:spPr>
          <a:xfrm>
            <a:off x="137160" y="286602"/>
            <a:ext cx="830580" cy="1450757"/>
          </a:xfrm>
          <a:prstGeom prst="rect">
            <a:avLst/>
          </a:prstGeom>
          <a:solidFill>
            <a:srgbClr val="CADCE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24603-8E0F-39B3-A76B-3E403BEA67BE}"/>
              </a:ext>
            </a:extLst>
          </p:cNvPr>
          <p:cNvSpPr txBox="1"/>
          <p:nvPr/>
        </p:nvSpPr>
        <p:spPr>
          <a:xfrm>
            <a:off x="3870960" y="2044734"/>
            <a:ext cx="81457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b="1" dirty="0"/>
          </a:p>
          <a:p>
            <a:pPr marL="285750" indent="-285750">
              <a:buFontTx/>
              <a:buChar char="-"/>
            </a:pPr>
            <a:r>
              <a:rPr lang="en-GB" b="1" dirty="0"/>
              <a:t>This Analyses seeks to answer the questions of:</a:t>
            </a:r>
          </a:p>
          <a:p>
            <a:pPr marL="742950" lvl="1" indent="-285750">
              <a:buFontTx/>
              <a:buChar char="-"/>
            </a:pPr>
            <a:r>
              <a:rPr lang="en-GB" dirty="0"/>
              <a:t>Did all countries respond the same way to the pandemic and if they differed, how? Why?</a:t>
            </a:r>
          </a:p>
          <a:p>
            <a:pPr marL="742950" lvl="1" indent="-285750">
              <a:buFontTx/>
              <a:buChar char="-"/>
            </a:pPr>
            <a:r>
              <a:rPr lang="en-GB" dirty="0"/>
              <a:t>IF forecasted, does demographic data line up with current data, indicating that the pandemic has been recovered from?</a:t>
            </a:r>
          </a:p>
          <a:p>
            <a:pPr marL="742950" lvl="1" indent="-285750">
              <a:buFontTx/>
              <a:buChar char="-"/>
            </a:pPr>
            <a:r>
              <a:rPr lang="en-GB" dirty="0"/>
              <a:t>Which countries fared the worst and should be most prepared for the future similar scenario?</a:t>
            </a:r>
          </a:p>
          <a:p>
            <a:endParaRPr lang="en-GB" dirty="0"/>
          </a:p>
          <a:p>
            <a:r>
              <a:rPr lang="en-GB" b="1" dirty="0"/>
              <a:t>Dataset: </a:t>
            </a:r>
            <a:r>
              <a:rPr lang="en-GB" dirty="0"/>
              <a:t>“United Nations, Department of Economic and Social Affairs, </a:t>
            </a:r>
            <a:r>
              <a:rPr lang="en-GB" dirty="0" err="1"/>
              <a:t>PopulationDivision</a:t>
            </a:r>
            <a:r>
              <a:rPr lang="en-GB" dirty="0"/>
              <a:t>(2024). World Population Prospects 2024, Online Edition.“</a:t>
            </a:r>
          </a:p>
          <a:p>
            <a:r>
              <a:rPr lang="en-GB" dirty="0"/>
              <a:t>(</a:t>
            </a:r>
            <a:r>
              <a:rPr lang="en-GB" dirty="0">
                <a:hlinkClick r:id="rId2"/>
              </a:rPr>
              <a:t>https://population.un.org/wpp/downloads?folder=Standard%20Projections&amp;group=CSV%20format</a:t>
            </a:r>
            <a:r>
              <a:rPr lang="en-GB" dirty="0"/>
              <a:t> 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43918B-7018-ECC1-7C2A-74022A722C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992"/>
          <a:stretch>
            <a:fillRect/>
          </a:stretch>
        </p:blipFill>
        <p:spPr>
          <a:xfrm>
            <a:off x="0" y="1889760"/>
            <a:ext cx="3573780" cy="45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9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B139-C57F-CE53-9CC7-1C0627CBF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236D-B451-92A1-2687-5DD69DE4809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ADCE1"/>
          </a:solidFill>
        </p:spPr>
        <p:txBody>
          <a:bodyPr/>
          <a:lstStyle/>
          <a:p>
            <a:r>
              <a:rPr lang="en-GB" b="1" dirty="0"/>
              <a:t>COVID-19 Analyses</a:t>
            </a:r>
            <a:br>
              <a:rPr lang="en-GB" dirty="0"/>
            </a:br>
            <a:r>
              <a:rPr lang="en-GB" dirty="0"/>
              <a:t>Finding Interesting Demographics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D238D-0BBA-9F52-1BC6-04C2DB6CD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B46D1B-C268-9F09-577F-B716D8FC2E95}"/>
              </a:ext>
            </a:extLst>
          </p:cNvPr>
          <p:cNvSpPr txBox="1">
            <a:spLocks/>
          </p:cNvSpPr>
          <p:nvPr/>
        </p:nvSpPr>
        <p:spPr>
          <a:xfrm>
            <a:off x="137160" y="286602"/>
            <a:ext cx="830580" cy="1450757"/>
          </a:xfrm>
          <a:prstGeom prst="rect">
            <a:avLst/>
          </a:prstGeom>
          <a:solidFill>
            <a:srgbClr val="CADCE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4A819-AD62-B3AE-E3EB-ECD21B7D9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63" y="1935797"/>
            <a:ext cx="4244980" cy="424434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B0CD369-4B03-1679-69FC-921BF70BF645}"/>
              </a:ext>
            </a:extLst>
          </p:cNvPr>
          <p:cNvGrpSpPr/>
          <p:nvPr/>
        </p:nvGrpSpPr>
        <p:grpSpPr>
          <a:xfrm>
            <a:off x="6096000" y="2171859"/>
            <a:ext cx="4183380" cy="3840480"/>
            <a:chOff x="6782440" y="2171859"/>
            <a:chExt cx="4183380" cy="384048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717424F-3E04-5B6E-A976-FE2C27C65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87" t="9589" b="4482"/>
            <a:stretch>
              <a:fillRect/>
            </a:stretch>
          </p:blipFill>
          <p:spPr>
            <a:xfrm>
              <a:off x="6782440" y="2171859"/>
              <a:ext cx="4183380" cy="3840480"/>
            </a:xfrm>
            <a:prstGeom prst="snipRoundRect">
              <a:avLst>
                <a:gd name="adj1" fmla="val 16667"/>
                <a:gd name="adj2" fmla="val 13492"/>
              </a:avLst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4C6183A-7174-E224-72A0-20E45B25F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3143" t="2852" r="1128" b="87263"/>
            <a:stretch>
              <a:fillRect/>
            </a:stretch>
          </p:blipFill>
          <p:spPr>
            <a:xfrm>
              <a:off x="9258300" y="2698776"/>
              <a:ext cx="521970" cy="91707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B97FB43-5892-A7B6-9401-2E3D53D2F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653" t="666" r="30379" b="97589"/>
            <a:stretch>
              <a:fillRect/>
            </a:stretch>
          </p:blipFill>
          <p:spPr>
            <a:xfrm>
              <a:off x="7201540" y="2344975"/>
              <a:ext cx="2926489" cy="133508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7976334-A554-0DB2-9C05-DF5FC9E872C9}"/>
              </a:ext>
            </a:extLst>
          </p:cNvPr>
          <p:cNvSpPr txBox="1"/>
          <p:nvPr/>
        </p:nvSpPr>
        <p:spPr>
          <a:xfrm>
            <a:off x="145038" y="3238658"/>
            <a:ext cx="16454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Python-tools </a:t>
            </a:r>
            <a:r>
              <a:rPr lang="en-US" noProof="0" dirty="0"/>
              <a:t>enables quick analysis of multiple variables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209B3-93E4-0143-BA2F-4DF820A7FA27}"/>
              </a:ext>
            </a:extLst>
          </p:cNvPr>
          <p:cNvSpPr txBox="1"/>
          <p:nvPr/>
        </p:nvSpPr>
        <p:spPr>
          <a:xfrm>
            <a:off x="10347837" y="3238658"/>
            <a:ext cx="17675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Most influential variables enable </a:t>
            </a:r>
            <a:r>
              <a:rPr lang="en-US" b="1" dirty="0"/>
              <a:t>Clustering</a:t>
            </a:r>
            <a:r>
              <a:rPr lang="en-US" dirty="0"/>
              <a:t> segmentation of countries for easier in-depth analysis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E3F3A-699F-30A8-7A26-97FB685BED27}"/>
              </a:ext>
            </a:extLst>
          </p:cNvPr>
          <p:cNvSpPr txBox="1"/>
          <p:nvPr/>
        </p:nvSpPr>
        <p:spPr>
          <a:xfrm>
            <a:off x="4054343" y="6521678"/>
            <a:ext cx="46664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4"/>
              </a:rPr>
              <a:t>https://github.com/CarbonSnitch/RGN_UN_COVID_19_2025?tab=readme-ov-file</a:t>
            </a:r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8601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8CD1D-6636-AD15-21F0-90647B0E2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0900-7E8C-D586-7D82-9730A51C956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ADCE1"/>
          </a:solidFill>
        </p:spPr>
        <p:txBody>
          <a:bodyPr/>
          <a:lstStyle/>
          <a:p>
            <a:r>
              <a:rPr lang="en-GB" dirty="0"/>
              <a:t>Death-rate has returned to normal in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35BEC-88F0-5C5C-7BBA-C705BBD8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2B2197-5C95-5662-F8DE-370FA578974E}"/>
              </a:ext>
            </a:extLst>
          </p:cNvPr>
          <p:cNvSpPr txBox="1">
            <a:spLocks/>
          </p:cNvSpPr>
          <p:nvPr/>
        </p:nvSpPr>
        <p:spPr>
          <a:xfrm>
            <a:off x="137160" y="286602"/>
            <a:ext cx="830580" cy="1450757"/>
          </a:xfrm>
          <a:prstGeom prst="rect">
            <a:avLst/>
          </a:prstGeom>
          <a:solidFill>
            <a:srgbClr val="CADCE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52D7CB-2CF7-7208-4B09-056D1943CE4F}"/>
              </a:ext>
            </a:extLst>
          </p:cNvPr>
          <p:cNvGrpSpPr>
            <a:grpSpLocks noChangeAspect="1"/>
          </p:cNvGrpSpPr>
          <p:nvPr/>
        </p:nvGrpSpPr>
        <p:grpSpPr>
          <a:xfrm>
            <a:off x="422908" y="1907824"/>
            <a:ext cx="10801352" cy="4424713"/>
            <a:chOff x="483869" y="2125979"/>
            <a:chExt cx="9859568" cy="4038917"/>
          </a:xfrm>
        </p:grpSpPr>
        <p:pic>
          <p:nvPicPr>
            <p:cNvPr id="3" name="slide4" descr="COVID-19 STORY4">
              <a:extLst>
                <a:ext uri="{FF2B5EF4-FFF2-40B4-BE49-F238E27FC236}">
                  <a16:creationId xmlns:a16="http://schemas.microsoft.com/office/drawing/2014/main" id="{BB634621-6DDD-589E-E848-62211E2FB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4" t="25404" r="52902" b="2277"/>
            <a:stretch>
              <a:fillRect/>
            </a:stretch>
          </p:blipFill>
          <p:spPr>
            <a:xfrm>
              <a:off x="483869" y="2125979"/>
              <a:ext cx="5071111" cy="4038917"/>
            </a:xfrm>
            <a:prstGeom prst="rect">
              <a:avLst/>
            </a:prstGeom>
          </p:spPr>
        </p:pic>
        <p:pic>
          <p:nvPicPr>
            <p:cNvPr id="7" name="slide4" descr="COVID-19 STORY4">
              <a:extLst>
                <a:ext uri="{FF2B5EF4-FFF2-40B4-BE49-F238E27FC236}">
                  <a16:creationId xmlns:a16="http://schemas.microsoft.com/office/drawing/2014/main" id="{60A488AF-3CF5-3830-1F65-178A7EBBC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752" t="25157" r="4851" b="2524"/>
            <a:stretch>
              <a:fillRect/>
            </a:stretch>
          </p:blipFill>
          <p:spPr>
            <a:xfrm>
              <a:off x="5335029" y="2125979"/>
              <a:ext cx="5008408" cy="385572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B326A2A-1D6C-5E66-BC78-452AC3B6EAA9}"/>
              </a:ext>
            </a:extLst>
          </p:cNvPr>
          <p:cNvSpPr txBox="1"/>
          <p:nvPr/>
        </p:nvSpPr>
        <p:spPr>
          <a:xfrm>
            <a:off x="3200659" y="6521678"/>
            <a:ext cx="60985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3"/>
              </a:rPr>
              <a:t>https://public.tableau.com/app/profile/ryan.nattrass/viz/Before_AfterCOVID_2015/COVID-19STORY?publish=yes</a:t>
            </a:r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5470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192B-78C7-CEEE-CD8A-355689CF6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D8C3-76B1-77DE-D641-1B734932D60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ADCE1"/>
          </a:solidFill>
        </p:spPr>
        <p:txBody>
          <a:bodyPr>
            <a:normAutofit/>
          </a:bodyPr>
          <a:lstStyle/>
          <a:p>
            <a:r>
              <a:rPr lang="en-GB" b="1" dirty="0"/>
              <a:t>COVID-19 Analyses </a:t>
            </a:r>
            <a:br>
              <a:rPr lang="en-GB" b="1" dirty="0"/>
            </a:br>
            <a:r>
              <a:rPr lang="en-GB" dirty="0"/>
              <a:t>Clustering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200CC-1A58-E3D2-081E-1765D69D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1E67C3-0BF0-DB37-C973-E1C0C64F9495}"/>
              </a:ext>
            </a:extLst>
          </p:cNvPr>
          <p:cNvSpPr txBox="1">
            <a:spLocks/>
          </p:cNvSpPr>
          <p:nvPr/>
        </p:nvSpPr>
        <p:spPr>
          <a:xfrm>
            <a:off x="137160" y="286602"/>
            <a:ext cx="830580" cy="1450757"/>
          </a:xfrm>
          <a:prstGeom prst="rect">
            <a:avLst/>
          </a:prstGeom>
          <a:solidFill>
            <a:srgbClr val="CADCE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5</a:t>
            </a:r>
          </a:p>
        </p:txBody>
      </p:sp>
      <p:pic>
        <p:nvPicPr>
          <p:cNvPr id="6" name="slide5" descr="COVID-19 STORY3">
            <a:extLst>
              <a:ext uri="{FF2B5EF4-FFF2-40B4-BE49-F238E27FC236}">
                <a16:creationId xmlns:a16="http://schemas.microsoft.com/office/drawing/2014/main" id="{112D2FDE-1806-28E9-4058-DC34EC5B2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t="24855" r="56500" b="7637"/>
          <a:stretch>
            <a:fillRect/>
          </a:stretch>
        </p:blipFill>
        <p:spPr>
          <a:xfrm>
            <a:off x="1676400" y="1937252"/>
            <a:ext cx="5394960" cy="4336657"/>
          </a:xfrm>
          <a:prstGeom prst="rect">
            <a:avLst/>
          </a:prstGeom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3FF8B8E-D321-1453-A4DB-14DB78D416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567342"/>
              </p:ext>
            </p:extLst>
          </p:nvPr>
        </p:nvGraphicFramePr>
        <p:xfrm>
          <a:off x="7208520" y="1920534"/>
          <a:ext cx="3106914" cy="4180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ism 8" r:id="rId3" imgW="3427125" imgH="4611108" progId="Prism8.Document">
                  <p:embed/>
                </p:oleObj>
              </mc:Choice>
              <mc:Fallback>
                <p:oleObj name="Prism 8" r:id="rId3" imgW="3427125" imgH="4611108" progId="Prism8.Document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08520" y="1920534"/>
                        <a:ext cx="3106914" cy="4180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6808693-EAF9-7051-2887-BE5C396C8C6D}"/>
              </a:ext>
            </a:extLst>
          </p:cNvPr>
          <p:cNvSpPr txBox="1"/>
          <p:nvPr/>
        </p:nvSpPr>
        <p:spPr>
          <a:xfrm>
            <a:off x="0" y="2579596"/>
            <a:ext cx="1676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Clustering-analysis shows that the highest death-rate during COVID-19 pandemic is in High-GDP-per-capita, High-Median-Age Countries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6EA54-530E-77C2-D2C6-B30419642BAD}"/>
              </a:ext>
            </a:extLst>
          </p:cNvPr>
          <p:cNvSpPr txBox="1"/>
          <p:nvPr/>
        </p:nvSpPr>
        <p:spPr>
          <a:xfrm>
            <a:off x="10315434" y="2441096"/>
            <a:ext cx="158470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Death-rate in cluster 0 in 2020 is statistically-significantly larger than the death-rate in cluster 2, the countries with the lowest GDP-per-capita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A8AE4-3031-8345-6C1E-29D5082A2D39}"/>
              </a:ext>
            </a:extLst>
          </p:cNvPr>
          <p:cNvSpPr txBox="1"/>
          <p:nvPr/>
        </p:nvSpPr>
        <p:spPr>
          <a:xfrm>
            <a:off x="3200659" y="6521678"/>
            <a:ext cx="60985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hlinkClick r:id="rId5"/>
              </a:rPr>
              <a:t>https://public.tableau.com/app/profile/ryan.nattrass/viz/Before_AfterCOVID_2015/COVID-19STORY?publish=yes</a:t>
            </a:r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22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42CB-1648-F90B-B556-913019EA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32E4-6136-4259-9FF4-4CAAA324CB4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CADCE1"/>
          </a:solidFill>
        </p:spPr>
        <p:txBody>
          <a:bodyPr/>
          <a:lstStyle/>
          <a:p>
            <a:r>
              <a:rPr lang="en-GB" dirty="0"/>
              <a:t>COVID-19 Demographic analysis</a:t>
            </a:r>
            <a:br>
              <a:rPr lang="en-GB" dirty="0"/>
            </a:br>
            <a:r>
              <a:rPr lang="en-GB" dirty="0"/>
              <a:t>Data-driven recommendations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741759-A576-E875-13EA-CCF8D62E1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RGN - Data Analyst - Portfolio</a:t>
            </a:r>
            <a:endParaRPr lang="en-GB" noProof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7C9AD0F-F6CB-4CC2-AFF8-17A942701CAE}"/>
              </a:ext>
            </a:extLst>
          </p:cNvPr>
          <p:cNvSpPr txBox="1">
            <a:spLocks/>
          </p:cNvSpPr>
          <p:nvPr/>
        </p:nvSpPr>
        <p:spPr>
          <a:xfrm>
            <a:off x="137160" y="286602"/>
            <a:ext cx="830580" cy="1450757"/>
          </a:xfrm>
          <a:prstGeom prst="rect">
            <a:avLst/>
          </a:prstGeom>
          <a:solidFill>
            <a:srgbClr val="CADCE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9644C-A02B-2FCF-A710-D77CEBB3CBC2}"/>
              </a:ext>
            </a:extLst>
          </p:cNvPr>
          <p:cNvSpPr txBox="1"/>
          <p:nvPr/>
        </p:nvSpPr>
        <p:spPr>
          <a:xfrm>
            <a:off x="4396740" y="2570514"/>
            <a:ext cx="64617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dirty="0"/>
          </a:p>
          <a:p>
            <a:pPr marL="285750" indent="-285750">
              <a:buFontTx/>
              <a:buChar char="-"/>
            </a:pPr>
            <a:r>
              <a:rPr lang="en-GB" b="1" dirty="0"/>
              <a:t>All countries did NOT fare equally during COVID-19 </a:t>
            </a:r>
            <a:r>
              <a:rPr lang="en-GB" dirty="0"/>
              <a:t>with the countries with the highest GDP-per-capita having a larger death-rate during COVID-pandemic than the lowest GDP-per-capita countries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It would appear that in 2025, the death-rate has returned to a level comparable to forecasts from pre-COVID. This would indicate that </a:t>
            </a:r>
            <a:r>
              <a:rPr lang="en-GB" b="1" dirty="0"/>
              <a:t>the world has indeed recovered effectively from COVID-19 in 2025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720360-5AEE-E4F0-189B-6D0EA998C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92"/>
          <a:stretch>
            <a:fillRect/>
          </a:stretch>
        </p:blipFill>
        <p:spPr>
          <a:xfrm>
            <a:off x="0" y="1889760"/>
            <a:ext cx="3573780" cy="45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6118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109_TF22712842.potx" id="{66207373-B99E-4885-8182-B73EA986FCBA}" vid="{BA3EABD1-0925-4BFC-B6D5-F3CE9D9640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openxmlformats.org/package/2006/metadata/core-properties"/>
    <ds:schemaRef ds:uri="http://www.w3.org/XML/1998/namespace"/>
    <ds:schemaRef ds:uri="http://purl.org/dc/elements/1.1/"/>
    <ds:schemaRef ds:uri="71af3243-3dd4-4a8d-8c0d-dd76da1f02a5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{BD484344-E7CA-4F06-80A7-04EA1B83D5C1}tf22712842_win32</Template>
  <TotalTime>1923</TotalTime>
  <Words>388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Bookman Old Style</vt:lpstr>
      <vt:lpstr>Calibri</vt:lpstr>
      <vt:lpstr>Franklin Gothic Book</vt:lpstr>
      <vt:lpstr>1_RetrospectVTI</vt:lpstr>
      <vt:lpstr>Prism 8</vt:lpstr>
      <vt:lpstr>Ryan G Nattrass PhD</vt:lpstr>
      <vt:lpstr>Has the world recovered from COVID-19 in 2025</vt:lpstr>
      <vt:lpstr>COVID-19 Analyses Finding Interesting Demographics</vt:lpstr>
      <vt:lpstr>Death-rate has returned to normal in 2025</vt:lpstr>
      <vt:lpstr>COVID-19 Analyses  Clustering</vt:lpstr>
      <vt:lpstr>COVID-19 Demographic analysis Data-driven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G Nattrass</dc:creator>
  <cp:lastModifiedBy>Ryan G Nattrass</cp:lastModifiedBy>
  <cp:revision>17</cp:revision>
  <dcterms:created xsi:type="dcterms:W3CDTF">2025-07-23T07:15:44Z</dcterms:created>
  <dcterms:modified xsi:type="dcterms:W3CDTF">2025-08-19T08:54:48Z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